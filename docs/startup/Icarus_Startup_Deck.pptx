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828be58934598" /><Relationship Type="http://schemas.openxmlformats.org/officeDocument/2006/relationships/extended-properties" Target="/docProps/app.xml" Id="Rd15f97d9585f452b" /><Relationship Type="http://schemas.openxmlformats.org/officeDocument/2006/relationships/officeDocument" Target="/ppt/presentation.xml" Id="R2c58c49912584f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30a1873314f77"/>
  </p:sldMasterIdLst>
  <p:notesMasterIdLst>
    <p:notesMasterId xmlns:r="http://schemas.openxmlformats.org/officeDocument/2006/relationships" r:id="Rc6607740648b4bfe"/>
  </p:notesMasterIdLst>
  <p:sldIdLst>
    <p:sldId xmlns:r="http://schemas.openxmlformats.org/officeDocument/2006/relationships" id="256" r:id="R8deb9069ba284cb9"/>
    <p:sldId xmlns:r="http://schemas.openxmlformats.org/officeDocument/2006/relationships" id="257" r:id="Rf81b0038836d48ad"/>
    <p:sldId xmlns:r="http://schemas.openxmlformats.org/officeDocument/2006/relationships" id="258" r:id="R4dff4ee7a6b54a79"/>
    <p:sldId xmlns:r="http://schemas.openxmlformats.org/officeDocument/2006/relationships" id="259" r:id="Rbadba99fe04349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31f78a35c4a41" /><Relationship Type="http://schemas.openxmlformats.org/officeDocument/2006/relationships/slideMaster" Target="/ppt/slideMasters/slideMaster1.xml" Id="Rde930a1873314f77" /><Relationship Type="http://schemas.openxmlformats.org/officeDocument/2006/relationships/notesMaster" Target="/ppt/notesMasters/notesMaster1.xml" Id="Rc6607740648b4bfe" /><Relationship Type="http://schemas.openxmlformats.org/officeDocument/2006/relationships/presProps" Target="/ppt/presProps.xml" Id="R938a3c9d68074216" /><Relationship Type="http://schemas.openxmlformats.org/officeDocument/2006/relationships/tableStyles" Target="/ppt/tableStyles.xml" Id="Rb679719c11894ce7" /><Relationship Type="http://schemas.openxmlformats.org/officeDocument/2006/relationships/slide" Target="/ppt/slides/slide1.xml" Id="R8deb9069ba284cb9" /><Relationship Type="http://schemas.openxmlformats.org/officeDocument/2006/relationships/slide" Target="/ppt/slides/slide2.xml" Id="Rf81b0038836d48ad" /><Relationship Type="http://schemas.openxmlformats.org/officeDocument/2006/relationships/slide" Target="/ppt/slides/slide3.xml" Id="R4dff4ee7a6b54a79" /><Relationship Type="http://schemas.openxmlformats.org/officeDocument/2006/relationships/slide" Target="/ppt/slides/slide4.xml" Id="Rbadba99fe04349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733e36fe4d44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a94a33cea4af8" /><Relationship Type="http://schemas.openxmlformats.org/officeDocument/2006/relationships/notesMaster" Target="/ppt/notesMasters/notesMaster1.xml" Id="Rd84404d9fe9643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f34f2842c64e5b" /><Relationship Type="http://schemas.openxmlformats.org/officeDocument/2006/relationships/notesMaster" Target="/ppt/notesMasters/notesMaster1.xml" Id="Rca96a0c258904a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ca8c7ad2174b59" /><Relationship Type="http://schemas.openxmlformats.org/officeDocument/2006/relationships/notesMaster" Target="/ppt/notesMasters/notesMaster1.xml" Id="R9cb8c7e00dbc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2456000462435e" /><Relationship Type="http://schemas.openxmlformats.org/officeDocument/2006/relationships/notesMaster" Target="/ppt/notesMasters/notesMaster1.xml" Id="R86a26d0a1aca49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facc8bdde46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00218c97048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6541e8f984d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52431f90d4f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d0c46547a49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598fe7381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F9A425-EEAF-45D8-9F5C-708F6A492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CD9C15-E8A2-4219-ADA0-91741C99A1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63EEF3-BFF4-4EBF-B9FA-D2B3F2AA8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2B1EE9-DBA0-4FAF-BD3B-466FD75BD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7266CE8-15FB-4E64-9BFC-9CC918E72F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476041-5DF4-42C5-9740-ED3CE0A115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A649DC-BFF3-41F8-8BF8-491C84896C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07B369-493B-4CBF-AE37-64EC27ECD1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BFC547-8C44-4E5E-BC22-DE96567A8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C9BCA3-00D1-46DA-9E57-B07B182B7B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5c9b4f53614a99" /><Relationship Type="http://schemas.openxmlformats.org/officeDocument/2006/relationships/slideLayout" Target="/ppt/slideLayouts/slideLayout1.xml" Id="R7486e014952c4f14" /><Relationship Type="http://schemas.openxmlformats.org/officeDocument/2006/relationships/slideLayout" Target="/ppt/slideLayouts/slideLayout2.xml" Id="Rf5a3eea9f2f74531" /><Relationship Type="http://schemas.openxmlformats.org/officeDocument/2006/relationships/slideLayout" Target="/ppt/slideLayouts/slideLayout3.xml" Id="Ra6d2a1e0b5da48d8" /><Relationship Type="http://schemas.openxmlformats.org/officeDocument/2006/relationships/slideLayout" Target="/ppt/slideLayouts/slideLayout4.xml" Id="R184bc70add824dc4" /><Relationship Type="http://schemas.openxmlformats.org/officeDocument/2006/relationships/slideLayout" Target="/ppt/slideLayouts/slideLayout5.xml" Id="R1a3aa5f5d3c6462c" /><Relationship Type="http://schemas.openxmlformats.org/officeDocument/2006/relationships/slideLayout" Target="/ppt/slideLayouts/slideLayout6.xml" Id="R4643c6179eac4e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86e014952c4f14"/>
    <p:sldLayoutId xmlns:r="http://schemas.openxmlformats.org/officeDocument/2006/relationships" id="2147483650" r:id="Rf5a3eea9f2f74531"/>
    <p:sldLayoutId xmlns:r="http://schemas.openxmlformats.org/officeDocument/2006/relationships" id="2147483651" r:id="Ra6d2a1e0b5da48d8"/>
    <p:sldLayoutId xmlns:r="http://schemas.openxmlformats.org/officeDocument/2006/relationships" id="2147483652" r:id="R184bc70add824dc4"/>
    <p:sldLayoutId xmlns:r="http://schemas.openxmlformats.org/officeDocument/2006/relationships" id="2147483653" r:id="R1a3aa5f5d3c6462c"/>
    <p:sldLayoutId xmlns:r="http://schemas.openxmlformats.org/officeDocument/2006/relationships" id="2147483654" r:id="R4643c6179eac4e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11f6f72714033" /><Relationship Type="http://schemas.openxmlformats.org/officeDocument/2006/relationships/notesSlide" Target="/ppt/notesSlides/notesSlide1.xml" Id="Rf41a842616374f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ccabf3a93482b" /><Relationship Type="http://schemas.openxmlformats.org/officeDocument/2006/relationships/image" Target="/ppt/media/image.png" Id="Ra221e540696141f0" /><Relationship Type="http://schemas.openxmlformats.org/officeDocument/2006/relationships/notesSlide" Target="/ppt/notesSlides/notesSlide2.xml" Id="R3ffb3a0fef7a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077c753b44a55" /><Relationship Type="http://schemas.openxmlformats.org/officeDocument/2006/relationships/notesSlide" Target="/ppt/notesSlides/notesSlide3.xml" Id="R3cfd650a971240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1a8a057c74c76" /><Relationship Type="http://schemas.openxmlformats.org/officeDocument/2006/relationships/notesSlide" Target="/ppt/notesSlides/notesSlide4.xml" Id="R2fd2ae1d916f45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76EFD-E2AE-4161-B36A-21781177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0970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Icarus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93351-3C66-4589-9916-83022EDC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719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7E0ED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D7E0ED"/>
                </a:solidFill>
              </a:defRPr>
            </a:pPr>
            <a:r>
              <a:rPr sz="2025">
                <a:solidFill>
                  <a:srgbClr val="D7E0ED"/>
                </a:solidFill>
              </a:rPr>
              <a:t>Mission software and a validation harness for autonomous drones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772DE-E0CD-48DD-9DC7-BFCC90A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9FB1CA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9FB1CA"/>
                </a:solidFill>
              </a:defRPr>
            </a:pPr>
            <a:r>
              <a:rPr sz="1350">
                <a:solidFill>
                  <a:srgbClr val="9FB1CA"/>
                </a:solidFill>
              </a:rPr>
              <a:t>For defence and enterprise drone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4489A-B7D2-4AB4-815B-676A6B12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9FB1C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9FB1CA"/>
                </a:solidFill>
              </a:defRPr>
            </a:pPr>
            <a:r>
              <a:rPr sz="1050">
                <a:solidFill>
                  <a:srgbClr val="9FB1CA"/>
                </a:solidFill>
              </a:rPr>
              <a:t>Simulation-first product development</a:t>
            </a:r>
          </a:p>
        </p:txBody>
      </p:sp>
    </p:spTree>
    <p:extLst>
      <p:ext uri="{BB962C8B-B14F-4D97-AF65-F5344CB8AC3E}">
        <p14:creationId xmlns:p14="http://schemas.microsoft.com/office/powerpoint/2010/main" val="1405901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F30F7-F17E-4533-B022-6D66171E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1C36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1C36"/>
                </a:solidFill>
              </a:defRPr>
            </a:pPr>
            <a:r>
              <a:rPr sz="2700" b="1">
                <a:solidFill>
                  <a:srgbClr val="0B1C36"/>
                </a:solidFill>
              </a:rPr>
              <a:t>How Icarus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DA646-8D5D-4653-B92F-AD361448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43516A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43516A"/>
                </a:solidFill>
              </a:defRPr>
            </a:pPr>
            <a:r>
              <a:rPr sz="1350">
                <a:solidFill>
                  <a:srgbClr val="43516A"/>
                </a:solidFill>
              </a:rPr>
              <a:t>The model proposes one bounded action at a time. The flight stack validates, executes and records the result.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2062F-A65E-4CBE-A810-5D2821E881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1e540696141f0"/>
          <a:stretch xmlns:a="http://schemas.openxmlformats.org/drawingml/2006/main"/>
        </p:blipFill>
        <p:spPr>
          <a:xfrm xmlns:a="http://schemas.openxmlformats.org/drawingml/2006/main">
            <a:off x="2689777" y="1571625"/>
            <a:ext cx="6812446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86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24E0C-7C53-4040-8719-D152AB9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B1C36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B1C36"/>
                </a:solidFill>
              </a:defRPr>
            </a:pPr>
            <a:r>
              <a:rPr sz="2700" b="1">
                <a:solidFill>
                  <a:srgbClr val="0B1C36"/>
                </a:solidFill>
              </a:rPr>
              <a:t>Where it 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35CC7-95E4-48AE-A425-E9A0CA46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B1C36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C36"/>
                </a:solidFill>
              </a:defRPr>
            </a:pPr>
            <a:r>
              <a:rPr sz="1875" b="1">
                <a:solidFill>
                  <a:srgbClr val="0B1C36"/>
                </a:solidFill>
              </a:rPr>
              <a:t>Defence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EE91D-12B9-4D26-8B83-ECCB46E1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43516A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43516A"/>
                </a:solidFill>
              </a:defRPr>
            </a:pPr>
            <a:r>
              <a:rPr sz="1500">
                <a:solidFill>
                  <a:srgbClr val="43516A"/>
                </a:solidFill>
              </a:rPr>
              <a:t>• Operator-supervised perimeter observation</a:t>
            </a:r>
          </a:p>
          <a:p xmlns:a="http://schemas.openxmlformats.org/drawingml/2006/main">
            <a:pPr>
              <a:defRPr sz="1500">
                <a:solidFill>
                  <a:srgbClr val="43516A"/>
                </a:solidFill>
              </a:defRPr>
            </a:pPr>
            <a:r>
              <a:rPr sz="1500">
                <a:solidFill>
                  <a:srgbClr val="43516A"/>
                </a:solidFill>
              </a:rPr>
              <a:t>• Mission rehearsal before deployment</a:t>
            </a:r>
          </a:p>
          <a:p xmlns:a="http://schemas.openxmlformats.org/drawingml/2006/main">
            <a:pPr>
              <a:defRPr sz="1500">
                <a:solidFill>
                  <a:srgbClr val="43516A"/>
                </a:solidFill>
              </a:defRPr>
            </a:pPr>
            <a:r>
              <a:rPr sz="1500">
                <a:solidFill>
                  <a:srgbClr val="43516A"/>
                </a:solidFill>
              </a:rPr>
              <a:t>• Replayable records for review and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3040C-A63A-4004-AA98-65A8D3B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716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B1C36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C36"/>
                </a:solidFill>
              </a:defRPr>
            </a:pPr>
            <a:r>
              <a:rPr sz="1875" b="1">
                <a:solidFill>
                  <a:srgbClr val="0B1C36"/>
                </a:solidFill>
              </a:rPr>
              <a:t>Enterprise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00974-E4FD-4D88-82F3-41D669DD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43516A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43516A"/>
                </a:solidFill>
              </a:defRPr>
            </a:pPr>
            <a:r>
              <a:rPr sz="1500">
                <a:solidFill>
                  <a:srgbClr val="43516A"/>
                </a:solidFill>
              </a:rPr>
              <a:t>• Industrial inspection and asset surveys</a:t>
            </a:r>
          </a:p>
          <a:p xmlns:a="http://schemas.openxmlformats.org/drawingml/2006/main">
            <a:pPr>
              <a:defRPr sz="1500">
                <a:solidFill>
                  <a:srgbClr val="43516A"/>
                </a:solidFill>
              </a:defRPr>
            </a:pPr>
            <a:r>
              <a:rPr sz="1500">
                <a:solidFill>
                  <a:srgbClr val="43516A"/>
                </a:solidFill>
              </a:rPr>
              <a:t>• Site security and operational monitoring</a:t>
            </a:r>
          </a:p>
          <a:p xmlns:a="http://schemas.openxmlformats.org/drawingml/2006/main">
            <a:pPr>
              <a:defRPr sz="1500">
                <a:solidFill>
                  <a:srgbClr val="43516A"/>
                </a:solidFill>
              </a:defRPr>
            </a:pPr>
            <a:r>
              <a:rPr sz="1500">
                <a:solidFill>
                  <a:srgbClr val="43516A"/>
                </a:solidFill>
              </a:rPr>
              <a:t>• Shared mission workflows across hardware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01380-C3BC-408E-83CC-122B7C7A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43516A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43516A"/>
                </a:solidFill>
              </a:defRPr>
            </a:pPr>
            <a:r>
              <a:rPr sz="1350">
                <a:solidFill>
                  <a:srgbClr val="43516A"/>
                </a:solidFill>
              </a:rPr>
              <a:t>Icarus sits above existing autopilots and sensors. It does not require an operator to replace their drone fleet.</a:t>
            </a:r>
          </a:p>
        </p:txBody>
      </p:sp>
    </p:spTree>
    <p:extLst>
      <p:ext uri="{BB962C8B-B14F-4D97-AF65-F5344CB8AC3E}">
        <p14:creationId xmlns:p14="http://schemas.microsoft.com/office/powerpoint/2010/main" val="25362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C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BA236-4B0A-42D2-BDCD-BA82D0F4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86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the startup can sell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1C178-DA0E-4048-B805-37C80D7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7E0E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7E0ED"/>
                </a:solidFill>
              </a:defRPr>
            </a:pPr>
            <a:r>
              <a:rPr sz="1725" b="1">
                <a:solidFill>
                  <a:srgbClr val="D7E0ED"/>
                </a:solidFill>
              </a:rPr>
              <a:t>Mission software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8663A-FFB4-40C3-B804-8D6401CC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B8C7DA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B8C7DA"/>
                </a:solidFill>
              </a:defRPr>
            </a:pPr>
            <a:r>
              <a:rPr sz="1425">
                <a:solidFill>
                  <a:srgbClr val="B8C7DA"/>
                </a:solidFill>
              </a:rPr>
              <a:t>A controllable mission layer that connects operators, sensors and ArduPilot.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8A763-2734-4FEB-AC6A-A9585328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764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7E0E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7E0ED"/>
                </a:solidFill>
              </a:defRPr>
            </a:pPr>
            <a:r>
              <a:rPr sz="1725" b="1">
                <a:solidFill>
                  <a:srgbClr val="D7E0ED"/>
                </a:solidFill>
              </a:rPr>
              <a:t>Validation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C124E-0B6E-44B4-8F2D-5D2A5CF2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B8C7DA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B8C7DA"/>
                </a:solidFill>
              </a:defRPr>
            </a:pPr>
            <a:r>
              <a:rPr sz="1425">
                <a:solidFill>
                  <a:srgbClr val="B8C7DA"/>
                </a:solidFill>
              </a:rPr>
              <a:t>Scenario testing, fault injection, telemetry capture and replay before a customer deploys.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84160-02C1-44CF-A3CE-C6FDB7BF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7E0E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7E0ED"/>
                </a:solidFill>
              </a:defRPr>
            </a:pPr>
            <a:r>
              <a:rPr sz="1725" b="1">
                <a:solidFill>
                  <a:srgbClr val="D7E0ED"/>
                </a:solidFill>
              </a:rPr>
              <a:t>Integration programmes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5D196-FC34-439C-8C74-519B208C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B8C7DA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B8C7DA"/>
                </a:solidFill>
              </a:defRPr>
            </a:pPr>
            <a:r>
              <a:rPr sz="1425">
                <a:solidFill>
                  <a:srgbClr val="B8C7DA"/>
                </a:solidFill>
              </a:rPr>
              <a:t>Customer-specific airframe, sensor and mission workflow integration.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EDC82-7E22-4198-86C7-8488550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Initial customers: drone OEMs, systems integrators, and security or inspection operators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5D454-7DB0-49BF-BB50-87A09C9F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57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9FB1C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9FB1CA"/>
                </a:solidFill>
              </a:defRPr>
            </a:pPr>
            <a:r>
              <a:rPr sz="1050">
                <a:solidFill>
                  <a:srgbClr val="9FB1CA"/>
                </a:solidFill>
              </a:rPr>
              <a:t>Current stage: simulation-first R&amp;D. Unattended and physical-flight approval remains a future qualification gate.</a:t>
            </a:r>
          </a:p>
        </p:txBody>
      </p:sp>
    </p:spTree>
    <p:extLst>
      <p:ext uri="{BB962C8B-B14F-4D97-AF65-F5344CB8AC3E}">
        <p14:creationId xmlns:p14="http://schemas.microsoft.com/office/powerpoint/2010/main" val="987434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2026-10-14T16:45:22.4830000Z</dcterms:created>
  <dcterms:modified xsi:type="dcterms:W3CDTF">2026-10-14T16:45:22.4830000Z</dcterms:modified>
</coreProperties>
</file>